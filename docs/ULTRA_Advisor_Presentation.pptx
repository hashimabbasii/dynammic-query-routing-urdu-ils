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saying: this is not a 87% accuracy talk. It is a freeze, three different evaluations, and a Roman-Urdu follow-on program. Ask the advisor to hold questions until the decision slide if time is tight (20 minutes).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three numbers out loud and the three questions. Then: we will not average them. Roman is the gap. v2 exists to attack that gap without rewriting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contract for the meeting. If time is short, jump from this slide to the three numbers, then Roman split, then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as bilingual IR, not as 'we built a chatbot'. The scientific contribution is a frozen protocol that keeps these scripts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advisor still thinks of the SVM thesis, this is the correction slide. Do not apologize — show we chose the retrieval metric over a prettier classification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figure left to right. Emphasize MIXED goes to Urdu BM25 by design. Method D is document-side romanization, not a neural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MiniLM bars: we already tried dense/chunking on this pool; they lost to M0 here because development Roman matched Method D. That advantage did not transfer to ordinary Roman.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thesis Table 1. Pause. If the advisor asks for one number, refuse politely and repeat the three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convinces a careful advisor you understand your own result. Development 22/23 Roman was the wrong Roman.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justifies ULTRA v2. Do not propose another BM25 stoplist. The gold is not in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how you convince a methods-strict advisor. We have hashes, seals, and a negative ablation. That is more valuable than a 90%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'is it published?': the repo shows a submission-ready PLOS package dated 6 Sep 2026. Confirm portal status verbally if you have it; do not invent a DOI.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relationship explicit: v2 is meant to improve Roman retrieval for a later paper. It does not replace 87/67.5/57.5.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4/51 vs 22/23 slowly. That is the generalization failure of Method D. Then: we already tried the obvious patches; two of them are unsupported.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'I will not waste your time' slide. You already know letter-name and 3-way fusion failed. Ask for permission to stop those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B explicitly. If the advisor loves v2, still freeze the thesis on M0. v2 can be a second paper after the degree, or a chapter labeled exploratory.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two of these aloud: averaging, and opening TEST. Those are the two ways this project gets scientifically damaged.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talking. Let the advisor choose. If they want details, go to backup slides. If they choose 2, agree the next v2 experiment in writing before any new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someone asks 'what was Phase 4?'. Historical Phase 4 chunk ANN is not v2 Phase 4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in reserve. The last Q is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4962C"/>
                </a:solidFill>
                <a:latin typeface="Calibri"/>
              </a:rPr>
              <a:t>AIR UNIVERSITY  ·  MS THESIS  /  ADVISOR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ULTRA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D7E2EA"/>
                </a:solidFill>
                <a:latin typeface="Calibri"/>
              </a:rPr>
              <a:t>Script-aware retrieval for Urdu and Roman Urdu news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B7C4CD"/>
                </a:solidFill>
                <a:latin typeface="Calibri"/>
              </a:rPr>
              <a:t>What was built, what the frozen numbers actually mean,
and what should happen next — without inflating a headline.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34840"/>
            <a:ext cx="2011680" cy="54864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Hashim Shazad   ·   Advisor: Adnan Aslam   ·   14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AABB6"/>
                </a:solidFill>
                <a:latin typeface="Calibri"/>
              </a:rPr>
              <a:t>Frozen system M0  ·  PLOS ONE / IEEE packaging  ·  ULTRA v2 TRAIN/DEV (TEST sealed)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2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IF YOU REMEMBER ONE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30-second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Three different questions. One frozen system. One remaining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37160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71600"/>
            <a:ext cx="3657600" cy="73152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7276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0B3D5C"/>
                </a:solidFill>
                <a:latin typeface="Calibri"/>
              </a:rPr>
              <a:t>87.18%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1284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4962C"/>
                </a:solidFill>
                <a:latin typeface="Calibri"/>
              </a:rPr>
              <a:t>Development known-item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2578608"/>
            <a:ext cx="33284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C6872"/>
                </a:solidFill>
                <a:latin typeface="Calibri"/>
              </a:rPr>
              <a:t>68/78 ExactSource Hit@5
Title-like QTRN pool — not unseen chat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37160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371600"/>
            <a:ext cx="3657600" cy="7315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57276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0B3D5C"/>
                </a:solidFill>
                <a:latin typeface="Calibri"/>
              </a:rPr>
              <a:t>67.50%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1284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F7A6B"/>
                </a:solidFill>
                <a:latin typeface="Calibri"/>
              </a:rPr>
              <a:t>New sealed known-item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578608"/>
            <a:ext cx="33284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C6872"/>
                </a:solidFill>
                <a:latin typeface="Calibri"/>
              </a:rPr>
              <a:t>27/40 on K001–K040
Urdu 26/28 · Roman 1/12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37160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371600"/>
            <a:ext cx="3657600" cy="73152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57276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0B3D5C"/>
                </a:solidFill>
                <a:latin typeface="Calibri"/>
              </a:rPr>
              <a:t>57.50%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1284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A63D40"/>
                </a:solidFill>
                <a:latin typeface="Calibri"/>
              </a:rPr>
              <a:t>New human usefulness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2578608"/>
            <a:ext cx="33284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C6872"/>
                </a:solidFill>
                <a:latin typeface="Calibri"/>
              </a:rPr>
              <a:t>23/40 Success@5 on U
Urdu 17/18 · Roman 6/18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657600"/>
            <a:ext cx="566928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657600"/>
            <a:ext cx="91440" cy="26974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767328"/>
            <a:ext cx="53035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What this project already 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4096512"/>
            <a:ext cx="525780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A frozen, reproducible lexical system (M0) — not the old SVM/MiniLM router.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A PLOS/IEEE manuscript that reports three numbers and does not average them.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A documented finding: Urdu-script news search is strong; ordinary Roman Urdu is not.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657600"/>
            <a:ext cx="544068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657600"/>
            <a:ext cx="91440" cy="269748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3767328"/>
            <a:ext cx="5074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What it is not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096512"/>
            <a:ext cx="502920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Not a published DOI in the repo (submission snapshot).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Not 80% real-world accuracy.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Not finished Roman retrieval — that is ULTRA v2, TEST still sealed.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3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MEETING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 need from this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I am not asking to reopen frozen M0. I am asking for a decision on thesis vs follow-on.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664208"/>
            <a:ext cx="548640" cy="548640"/>
          </a:xfrm>
          <a:prstGeom prst="ellipse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19072"/>
            <a:ext cx="548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5361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3D5C"/>
                </a:solidFill>
                <a:latin typeface="Calibri"/>
              </a:rPr>
              <a:t>What I did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93852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C6872"/>
                </a:solidFill>
                <a:latin typeface="Calibri"/>
              </a:rPr>
              <a:t>Froze M0, sealed K/U, human labels, ablation, papers, thesis draft.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0604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2898648"/>
            <a:ext cx="548640" cy="548640"/>
          </a:xfrm>
          <a:prstGeom prst="ellipse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53512"/>
            <a:ext cx="548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77063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3D5C"/>
                </a:solidFill>
                <a:latin typeface="Calibri"/>
              </a:rPr>
              <a:t>What the numbers mean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17296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C6872"/>
                </a:solidFill>
                <a:latin typeface="Calibri"/>
              </a:rPr>
              <a:t>87% is development known-item. 67.5% is new known-item. 57.5% is usefulness.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8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133088"/>
            <a:ext cx="548640" cy="548640"/>
          </a:xfrm>
          <a:prstGeom prst="ellipse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87952"/>
            <a:ext cx="548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00507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3D5C"/>
                </a:solidFill>
                <a:latin typeface="Calibri"/>
              </a:rPr>
              <a:t>What v2 already showed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40740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C6872"/>
                </a:solidFill>
                <a:latin typeface="Calibri"/>
              </a:rPr>
              <a:t>On 51 new Roman KN queries, Method D collapses; dense helps; fusion/letter-name failed.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5367528"/>
            <a:ext cx="548640" cy="548640"/>
          </a:xfrm>
          <a:prstGeom prst="ellipse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422392"/>
            <a:ext cx="548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23951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3D5C"/>
                </a:solidFill>
                <a:latin typeface="Calibri"/>
              </a:rPr>
              <a:t>The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64184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C6872"/>
                </a:solidFill>
                <a:latin typeface="Calibri"/>
              </a:rPr>
              <a:t>Finish thesis + PLOS on M0. Keep v2 TEST sealed. Treat v2 as a second paper, not a rewrite.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4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THE RESEARCH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Urdu users do not type in one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Corpus: 111,860 news articles. A single native-script index misses Roman queries even when the article exists.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37160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71600"/>
            <a:ext cx="91440" cy="493776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481328"/>
            <a:ext cx="3337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D5C"/>
                </a:solidFill>
                <a:latin typeface="Calibri"/>
              </a:rPr>
              <a:t>Perso-Arabic Urdu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1810512"/>
            <a:ext cx="3291839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Native script of the collection.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BM25 on article text is a strong known-item retriever for title-like Urdu queries.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On sealed K: 26/28 Hit@5.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On sealed U: 17/18 Success@5.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37160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371600"/>
            <a:ext cx="91440" cy="493776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481328"/>
            <a:ext cx="3337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D5C"/>
                </a:solidFill>
                <a:latin typeface="Calibri"/>
              </a:rPr>
              <a:t>Roman Urdu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1810512"/>
            <a:ext cx="3291839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Latin letters, informal spelling, no standard orthography.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Development Roman was title_roman (our own romanizer) — Method D looked excellent (22/23).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Ordinary Roman titles on K: 1/12 Hit@5.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Chat-style Roman on U: 6/18 Success@5.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37160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371600"/>
            <a:ext cx="91440" cy="493776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1481328"/>
            <a:ext cx="3291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D5C"/>
                </a:solidFill>
                <a:latin typeface="Calibri"/>
              </a:rPr>
              <a:t>Mixed / bilingual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1810512"/>
            <a:ext cx="324612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Users mix scripts and English entities.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M0 sends MIXED to Urdu BM25.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U mixed cell: 0/4 (descriptive, small n).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Not a solved path. Do not hide it; do not over-generalize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5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HONESTY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We rejected the tempting official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Original thesis Layer A: SVM routes queries to MiniLM headline vs full-article indexes.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F3A43"/>
                </a:solidFill>
                <a:latin typeface="Calibri"/>
              </a:rPr>
              <a:t>On held-out trap queries H001–H040 the router could match labels and still hurt retrieval.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874519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320040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Word-count / other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2F3A43"/>
                          </a:solidFill>
                          <a:latin typeface="Calibri"/>
                        </a:rPr>
                        <a:t>Classification (n=50, Phase 3B)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2F3A43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2F3A43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2F3A43"/>
                          </a:solidFill>
                          <a:latin typeface="Calibri"/>
                        </a:rPr>
                        <a:t>Held-out trap classification (n=40)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2F3A43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2F3A4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2F3A43"/>
                          </a:solidFill>
                          <a:latin typeface="Calibri"/>
                        </a:rPr>
                        <a:t>Held-out dual-index P@5 (400 judgments)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2F3A43"/>
                          </a:solidFill>
                          <a:latin typeface="Calibri"/>
                        </a:rPr>
                        <a:t>33.00%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2F3A43"/>
                          </a:solidFill>
                          <a:latin typeface="Calibri"/>
                        </a:rPr>
                        <a:t>36.50%  (SVM lost)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57200" y="4297680"/>
            <a:ext cx="11247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91440" cy="201168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407408"/>
            <a:ext cx="10881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Lesson we kept for the rest of the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36592"/>
            <a:ext cx="1083564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Classification accuracy is not an IR result. Older drafts quoting ~90% P@15 or 100% routing are Layer A — not M0.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Official system became script-aware BM25. MiniLM dual-index work is archived, not the paper headline.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F3A43"/>
                </a:solidFill>
                <a:latin typeface="Calibri"/>
              </a:rPr>
              <a:t>•  That is a scientific strength: we stopped when retrieval disagreed with the protocol labels.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6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OFFICIAL FROZEN SYSTEM — M0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Unicode detector + two BM25 indexes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Frozen 27 Aug 2026. SVM = false. k1=1.5, b=0.75. Top-50 retrieve, Top-5 official cutoff.</a:t>
            </a:r>
          </a:p>
        </p:txBody>
      </p:sp>
      <p:pic>
        <p:nvPicPr>
          <p:cNvPr id="11" name="Picture 10" descr="Fig1_m0_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7589520" cy="3246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92440" y="1325880"/>
            <a:ext cx="365760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91440" cy="49834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435607"/>
            <a:ext cx="3291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D5C"/>
                </a:solidFill>
                <a:latin typeface="Calibri"/>
              </a:rPr>
              <a:t>What is frozen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764792"/>
            <a:ext cx="324612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URDU / MIXED / OTHER → Urdu BM25 on article text.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ROMAN → Method D: romanize documents, search the query as typed.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198-key dictionary + character table. Dictionary keys were not edited after freeze.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Corpus SHA-256 verified locally (111,860 docs).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Frozen code: run_phase5.py (phase5_roman_urdu).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This is the PLOS/IEEE system. v2 must not rewrite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7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DEVELOPMENT / VALIDATION  ·  N = 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M0 was selected: 68/78 = 87.18%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Same pool as the bar chart. Roman subset was title_roman — Method D’s own spelling family.</a:t>
            </a:r>
          </a:p>
        </p:txBody>
      </p:sp>
      <p:pic>
        <p:nvPicPr>
          <p:cNvPr id="11" name="Picture 10" descr="Fig2_development_compa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7680960" cy="5029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92440" y="1325880"/>
            <a:ext cx="365760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91440" cy="498348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435607"/>
            <a:ext cx="3291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D5C"/>
                </a:solidFill>
                <a:latin typeface="Calibri"/>
              </a:rPr>
              <a:t>How to say this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764792"/>
            <a:ext cx="324612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True development known-item Hit@5.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Urdu-only BM25 on the same pool: 0.5897 — the Roman path was necessary here.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Method D recovered 22/23 development Roman items.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Forbidden sentence: “the system achieves 87% on unseen queries.”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Allowed sentence: “On the freeze known-item pool, ExactSource Hit@5 = 68/78.”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8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OFFICIAL FROZEN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Three numbers. Three questions. Never one average.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Copied from sealed Phase 8–12 reports. Not recomputed for this slide.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32588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09728" cy="141732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3D5C"/>
                </a:solidFill>
                <a:latin typeface="Calibri"/>
              </a:rPr>
              <a:t>87.18%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305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962C"/>
                </a:solidFill>
                <a:latin typeface="Calibri"/>
              </a:rPr>
              <a:t>68/78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527048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0B3D5C"/>
                </a:solidFill>
                <a:latin typeface="Calibri"/>
              </a:rPr>
              <a:t>Development known-item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01168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C6872"/>
                </a:solidFill>
                <a:latin typeface="Calibri"/>
              </a:rPr>
              <a:t>Did the designated source reach Top-5 on title-like QTRN queries?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88036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880360"/>
            <a:ext cx="109728" cy="141732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44952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3D5C"/>
                </a:solidFill>
                <a:latin typeface="Calibri"/>
              </a:rPr>
              <a:t>67.50%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8503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7A6B"/>
                </a:solidFill>
                <a:latin typeface="Calibri"/>
              </a:rPr>
              <a:t>27/40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081528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0B3D5C"/>
                </a:solidFill>
                <a:latin typeface="Calibri"/>
              </a:rPr>
              <a:t>Sealed known-item 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56616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C6872"/>
                </a:solidFill>
                <a:latin typeface="Calibri"/>
              </a:rPr>
              <a:t>Same question, new headlines. Ordinary Roman titles, not title_roman.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43484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34840"/>
            <a:ext cx="109728" cy="141732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99431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3D5C"/>
                </a:solidFill>
                <a:latin typeface="Calibri"/>
              </a:rPr>
              <a:t>57.50%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3951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63D40"/>
                </a:solidFill>
                <a:latin typeface="Calibri"/>
              </a:rPr>
              <a:t>23/40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636007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0B3D5C"/>
                </a:solidFill>
                <a:latin typeface="Calibri"/>
              </a:rPr>
              <a:t>Sealed human 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1206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C6872"/>
                </a:solidFill>
                <a:latin typeface="Calibri"/>
              </a:rPr>
              <a:t>Was anything in Top-5 useful (A or B)? No gold article.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C6872"/>
                </a:solidFill>
                <a:latin typeface="Calibri"/>
              </a:rPr>
              <a:t>Diagnostic only — do not quote as official unseen: H001–H040 Success@5 = 25/40 = 62.5% (traps; burned).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9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THE SCIENTIFIC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Urdu-script search works. Ordinary Roman Urdu does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Drop 87.18% → 67.50% is concentrated on Roman titles, not on Urdu BM25 breaking.</a:t>
            </a:r>
          </a:p>
        </p:txBody>
      </p:sp>
      <p:pic>
        <p:nvPicPr>
          <p:cNvPr id="11" name="Picture 10" descr="Fig3_script_spl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863840" cy="5029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83879" y="1325880"/>
            <a:ext cx="35661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325880"/>
            <a:ext cx="91440" cy="498348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1" y="1435607"/>
            <a:ext cx="3200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D5C"/>
                </a:solidFill>
                <a:latin typeface="Calibri"/>
              </a:rPr>
              <a:t>What to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1" y="1764792"/>
            <a:ext cx="3154679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K Urdu titles: 26/28 Hit@5.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K Roman titles: 1/12 Hit@5.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U Urdu needs: 17/18 Success@5.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U Roman needs: 6/18 Success@5.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U mixed: 0/4 (small n).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Honest one-liner for the thesis: native-script news search is strong; ordinary Roman Urdu remains the main failure mode.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10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WHY ROMAN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It is mostly a candidate-generation problem, not a Top-5 rerank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On sealed K, most Roman sources never enter the Top-50. Reranking cannot recover a document that was never retrieved.</a:t>
            </a:r>
          </a:p>
        </p:txBody>
      </p:sp>
      <p:pic>
        <p:nvPicPr>
          <p:cNvPr id="11" name="Picture 10" descr="Fig4_k_mis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772400" cy="5029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38160" y="1325880"/>
            <a:ext cx="361188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91440" cy="498348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435607"/>
            <a:ext cx="3246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D5C"/>
                </a:solidFill>
                <a:latin typeface="Calibri"/>
              </a:rPr>
              <a:t>Implication for next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764792"/>
            <a:ext cx="320040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Urdu misses are rare and often still in ranks 6–50.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Roman: 10 of 12 sources absent from Top-50.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That is why Phase 11 query expansions did not beat 68/78, and why v2 letter-name / 3-way RRF failed later.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Next method must get Roman golds into the pool — dense, better romanization, or a new matching feature.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11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WHY THIS IS DEFENDABLE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evaluation protocol is the contribution, not a rounded percentage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We can show a reviewer exactly what was frozen, what was sealed, and what was burned.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3258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3611880" cy="7315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270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D5C"/>
                </a:solidFill>
                <a:latin typeface="Calibri"/>
              </a:rPr>
              <a:t>Freeze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65960"/>
            <a:ext cx="32461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27 Aug 2026 manifest. Do not change k1, b, detector, Method D, corpus, dictionary keys.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3258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325880"/>
            <a:ext cx="3611880" cy="7315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5270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D5C"/>
                </a:solidFill>
                <a:latin typeface="Calibri"/>
              </a:rPr>
              <a:t>Sealed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965960"/>
            <a:ext cx="32461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K and U sealed before retrieval. Not QTRN, not H. Official unseen tests of this M0.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3258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1325880"/>
            <a:ext cx="3611880" cy="73152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5270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D5C"/>
                </a:solidFill>
                <a:latin typeface="Calibri"/>
              </a:rPr>
              <a:t>Ablation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965960"/>
            <a:ext cx="32461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M1–M4 query-side Roman expansions: all still 68/78. M0 not replaced.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8404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840480"/>
            <a:ext cx="3611880" cy="73152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416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D5C"/>
                </a:solidFill>
                <a:latin typeface="Calibri"/>
              </a:rPr>
              <a:t>Human labels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80560"/>
            <a:ext cx="32461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U A1 official 23/40. Independent A2: 26/40; five-way κ=0.549; binary κ=0.682. A2 does not replace A1.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38404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3840480"/>
            <a:ext cx="3611880" cy="73152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0416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D5C"/>
                </a:solidFill>
                <a:latin typeface="Calibri"/>
              </a:rPr>
              <a:t>Forbidden claim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480560"/>
            <a:ext cx="32461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~80% usefulness is written in the protocol as rejected. We did not chase 90% Hit@5 after freeze.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38404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9560" y="3840480"/>
            <a:ext cx="3611880" cy="73152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40416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D5C"/>
                </a:solidFill>
                <a:latin typeface="Calibri"/>
              </a:rPr>
              <a:t>Burned sets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480560"/>
            <a:ext cx="32461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K, U, and H cannot be used to retune M0, Method D, or the dictionary.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12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WRITTEN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Papers and thesis — status in the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Repo evidence only: no DOI or acceptance letter was found.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325880"/>
          <a:ext cx="114300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06240"/>
                <a:gridCol w="4206240"/>
              </a:tblGrid>
              <a:tr h="69342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Manuscript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Status in repo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PLOS ONE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Script-aware BM25 for Urdu and Roman Urdu news search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Editorial Manager package 6 Sep 2026. Snapshot branch publication/plos-one-final. Not proven published.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IEEE (M0)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Same three official metrics, IEEE style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Submission ZIP exists. Separate venue, not a new system.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AU MS thesis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Word + markdown draft aligned to frozen M0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Live file under Thesis_template/FINAL/. Layer A still labeled historical.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Historical MiniLM IEEE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SVM / dual-index draft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Archived. Do not present as the official result.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ULTRA v2 paper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Roman first-stage follow-on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No manuscript yet. Experiment reports only. TEST sealed.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C6872"/>
                </a:solidFill>
                <a:latin typeface="Calibri"/>
              </a:rPr>
              <a:t>Authors on the M0 papers: Hashim Shazad, Adnan Aslam. Independent U labels (A2): Areena Rahman.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13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ULTRA V2  ·  RESEARCH/ULTRA-V2-STRENGTHENING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follow-on program — not a rewrite of PLOS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New TRAIN / DEV / TEST benchmark. K/U/H are burned for v2. TEST query files have not been opened.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325880"/>
            <a:ext cx="566928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91440" cy="49834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435607"/>
            <a:ext cx="53035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Why a new benchmark was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1764792"/>
            <a:ext cx="525780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F3A43"/>
                </a:solidFill>
                <a:latin typeface="Calibri"/>
              </a:rPr>
              <a:t>•  K and U were sealed, retrieved, labeled, sliced by script, and put in the PLOS trail.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F3A43"/>
                </a:solidFill>
                <a:latin typeface="Calibri"/>
              </a:rPr>
              <a:t>•  Using them to invent new Roman rules would be test leakage.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F3A43"/>
                </a:solidFill>
                <a:latin typeface="Calibri"/>
              </a:rPr>
              <a:t>•  Phase 12 already said: if the system changes, K/U are burned. v2 is a system-change program.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F3A43"/>
                </a:solidFill>
                <a:latin typeface="Calibri"/>
              </a:rPr>
              <a:t>•  Objective: any improvement over frozen M0 must survive a genuinely unseen TEST.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F3A43"/>
                </a:solidFill>
                <a:latin typeface="Calibri"/>
              </a:rPr>
              <a:t>•  ~80% is an aspiration, not a pass/fail gate.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25880"/>
            <a:ext cx="544068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91440" cy="498348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435607"/>
            <a:ext cx="5074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What has been scored so far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764792"/>
            <a:ext cx="502920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F3A43"/>
                </a:solidFill>
                <a:latin typeface="Calibri"/>
              </a:rPr>
              <a:t>•  Roman known-item TRAIN+DEV only: n = 51.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F3A43"/>
                </a:solidFill>
                <a:latin typeface="Calibri"/>
              </a:rPr>
              <a:t>•  NL track not scored. TEST not retrieved.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F3A43"/>
                </a:solidFill>
                <a:latin typeface="Calibri"/>
              </a:rPr>
              <a:t>•  Same corpus and dictionary SHAs as M0.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F3A43"/>
                </a:solidFill>
                <a:latin typeface="Calibri"/>
              </a:rPr>
              <a:t>•  Method D is imported read-only from run_phase5.py.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F3A43"/>
                </a:solidFill>
                <a:latin typeface="Calibri"/>
              </a:rPr>
              <a:t>•  PLOS numbers stay historical. They are never averaged into a v2 headline.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14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V2 TRAIN+DEV  ·  ROMAN KN N = 51  ·  EXACTSOURCE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Scoreboard — dense is the only large Hit@5 move so 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TEST sealed. These numbers are not a new official system.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280160"/>
          <a:ext cx="1152144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371600"/>
                <a:gridCol w="1188720"/>
                <a:gridCol w="1188720"/>
                <a:gridCol w="1188720"/>
                <a:gridCol w="1280160"/>
                <a:gridCol w="2286000"/>
              </a:tblGrid>
              <a:tr h="54210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Hit@1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Hit@5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Hit@10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Hit@50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Method-D BM25 (R2-B0)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0.0375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Dense e5-small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D9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0.1726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Hybrid RRF k=60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0.1422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R2-NG3 char 3-grams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0.0750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Letter-name (Phase 7)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Unsupported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0.0007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3-way RRF k=60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Unsupported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0.1310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5212080"/>
            <a:ext cx="11338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F3A43"/>
                </a:solidFill>
                <a:latin typeface="Calibri"/>
              </a:rPr>
              <a:t>Reading: Method D, which produced 22/23 on development title_roman, is 4/51 on new Roman KN. Dense is the strongest first-stage (15/51 Hit@5). Hybrid helps Hit@10/@50 but loses to dense at Hit@5. Letter-name and 3-way RRF are closed.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15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CONTROLLED NEGATIVES ARE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we should stop repeating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Each of these was preregistered, run once, and written up. That is how we avoid wasting the next month.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7947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91440" cy="498348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435607"/>
            <a:ext cx="3429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Closed — do not rerun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1764792"/>
            <a:ext cx="338328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Document-side Hunterian fallback (R2-1): no Top-50 gain, ROOM 0/11.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Query-side letter-name expansion (Phase 7): 0/23 remaining misses; destroyed 5 of 6 BM25 Top-50 hits.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Unweighted 3-way RRF of BM25+dense+NG3 (Phase 8): Hit@5 11→8 vs 2-way hybrid. Dilutes NG3 ranks.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25880"/>
            <a:ext cx="37947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91440" cy="498348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435607"/>
            <a:ext cx="3429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Partial — keep as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1764792"/>
            <a:ext cx="338328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Dense e5-small: recovered 20 BM25 Top-50 misses; lost all 4 BM25 Hit@5 successes. Complementary, not a drop-in replacement.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2-way hybrid: restores BM25 recalls; still 25 dual-misses that neither list contains.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NG3: recovered KN035 (rank 5) and KN050 (rank 1) — two dual-miss golds. Not a general Roman solver.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25880"/>
            <a:ext cx="37947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25880"/>
            <a:ext cx="91440" cy="49834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435607"/>
            <a:ext cx="3429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Still true constraints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1764792"/>
            <a:ext cx="338328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23 queries remain misses for BM25 ∩ dense ∩ NG3 ∩ hybrid.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Routing on this set: 51/51 ROMAN — the detector is not the bug.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Opening TEST now would measure a still-weak Roman KN system. Fine for a failure paper; wrong if we want a 'we beat M0' claim.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16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RECOMMENDED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 should do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Recommended option is B: finish the degree on frozen M0; keep v2 as a follow-on paper.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7947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91440" cy="498348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435607"/>
            <a:ext cx="3429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D5C"/>
                </a:solidFill>
                <a:latin typeface="Calibri"/>
              </a:rPr>
              <a:t>A  ·  Now (this month)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1764792"/>
            <a:ext cx="338328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Keep M0 frozen. Do not retune on K, U, or H.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Thesis Table 1 = 87.18% / 67.50% / 57.50% with the three questions written above the numbers.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Submit or track PLOS ONE; IEEE is the same science in another template.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Strip any remaining ~90% P@15 / 100% routing language from the live thesis if it still appears unlabeled.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25880"/>
            <a:ext cx="37947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91440" cy="49834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435607"/>
            <a:ext cx="3429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D5C"/>
                </a:solidFill>
                <a:latin typeface="Calibri"/>
              </a:rPr>
              <a:t>B  ·  ULTRA v2 (follow-on paper)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1764792"/>
            <a:ext cx="338328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Do not open TEST until one system is preregistered and frozen on TRAIN/DEV.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Do not delay the MS thesis waiting for v2 TEST.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If one more TRAIN/DEV experiment: attack candidate generation (dense / better Roman matching) — not another unweighted RRF, not letter-name.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Frame the next paper as Roman Urdu first-stage retrieval, not as beating 87%.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25880"/>
            <a:ext cx="37947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25880"/>
            <a:ext cx="91440" cy="498348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435607"/>
            <a:ext cx="3429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D5C"/>
                </a:solidFill>
                <a:latin typeface="Calibri"/>
              </a:rPr>
              <a:t>C  ·  Only if you want a delay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1764792"/>
            <a:ext cx="338328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Hold the thesis until v2 TEST. I do not recommend this.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Reason: TEST is sealed, NL is unlabeled, current best Roman KN Hit@5 is 15/51.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F3A43"/>
                </a:solidFill>
                <a:latin typeface="Calibri"/>
              </a:rPr>
              <a:t>•  That is a research program, not a graduation blocker. M0 is already a complete, honest study.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17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RISK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we should not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These would weaken the thesis, the PLOS paper, or the v2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325880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91440" cy="146304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463039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Do not average 87% with 57%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1920240"/>
            <a:ext cx="5212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C6872"/>
                </a:solidFill>
                <a:latin typeface="Calibri"/>
              </a:rPr>
              <a:t>They answer different questions. A reviewer will treat that as overclaiming.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25880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91440" cy="146304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463039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Do not open v2 TEST to “see how we are doing”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920240"/>
            <a:ext cx="5212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C6872"/>
                </a:solidFill>
                <a:latin typeface="Calibri"/>
              </a:rPr>
              <a:t>One look burns the only unseen split. Seal metadata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926080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926080"/>
            <a:ext cx="91440" cy="146304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06324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Do not tune on K / U /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3520440"/>
            <a:ext cx="5212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C6872"/>
                </a:solidFill>
                <a:latin typeface="Calibri"/>
              </a:rPr>
              <a:t>Already retrieved, labeled, and published. Leakage.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926080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926080"/>
            <a:ext cx="91440" cy="146304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06324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Do not claim ~80% usefulness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520440"/>
            <a:ext cx="5212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C6872"/>
                </a:solidFill>
                <a:latin typeface="Calibri"/>
              </a:rPr>
              <a:t>Written as a rejected sentence in our own protocol.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526280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4526280"/>
            <a:ext cx="91440" cy="146304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66344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Do not rerun letter-name or 3-way RRF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5120640"/>
            <a:ext cx="5212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C6872"/>
                </a:solidFill>
                <a:latin typeface="Calibri"/>
              </a:rPr>
              <a:t>Unsupported under preregistration. Need a new hypothesis.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526280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526280"/>
            <a:ext cx="91440" cy="146304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466344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D5C"/>
                </a:solidFill>
                <a:latin typeface="Calibri"/>
              </a:rPr>
              <a:t>Do not overwrite PLOS numbers with v2 TRAIN/DEV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5120640"/>
            <a:ext cx="5212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C6872"/>
                </a:solidFill>
                <a:latin typeface="Calibri"/>
              </a:rPr>
              <a:t>4/51 or 15/51 is not a replacement for 68/78.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18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Decision I need from the 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My recommendation is highlighted.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F3A43"/>
                </a:solidFill>
                <a:latin typeface="Calibri"/>
              </a:rPr>
              <a:t>Please pick one. I will follow it without mixing PLOS freeze and v2 TEST.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8308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4767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B3D5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94767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3D5C"/>
                </a:solidFill>
                <a:latin typeface="Calibri"/>
              </a:rPr>
              <a:t>Thesis + PLOS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404872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F3A43"/>
                </a:solidFill>
                <a:latin typeface="Calibri"/>
              </a:rPr>
              <a:t>Park v2. Graduate on frozen M0. Roman failure is the honest limitation section.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0040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E7F4EE"/>
          </a:solidFill>
          <a:ln w="12700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6499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E6B4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6499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3D5C"/>
                </a:solidFill>
                <a:latin typeface="Calibri"/>
              </a:rPr>
              <a:t>Recommended: M0 thesis + v2 as follow-on   ←  my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22191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F3A43"/>
                </a:solidFill>
                <a:latin typeface="Calibri"/>
              </a:rPr>
              <a:t>Freeze the degree on the three numbers. Continue v2 on a new paper. TEST stays sealed until one candidate is frozen.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1772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8231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A63D4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8231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3D5C"/>
                </a:solidFill>
                <a:latin typeface="Calibri"/>
              </a:rPr>
              <a:t>Delay thesis for v2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39512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F3A43"/>
                </a:solidFill>
                <a:latin typeface="Calibri"/>
              </a:rPr>
              <a:t>Not recommended. TEST unlabeled NL, Roman KN still weak on TRAIN/DEV, risk of rushing a leak.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BACKUP  ·  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19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BACKUP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Chronology (folder numbers are not time)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Layer A → M0 freeze → K/U → papers → v2. Do not present folder names as the story.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280160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931920"/>
                <a:gridCol w="256032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Aug 2026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SVM dual-index MiniLM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P@5 33% vs 36.5% word-count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Superseded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24–26 Aug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Oracle pool → Method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68/78 = 87.18% Hit@5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Frozen as M0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27 Aug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Phase 8 freeze + H labels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H Success@5 25/40 diagnostic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Burned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Late Aug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Phase 11 M0–M4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All 68/78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M0 kept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Late Aug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Phase 12 K / U / A2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27/40 and 23/40; κ 0.55 / 0.68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Official unseen M0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6 Sep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PLOS / IEEE packaging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Submission snapshot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No DOI in repo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9–13 Sep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ULTRA v2 Phases 2–8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Dense 15/51; 3-way unsupported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>
                          <a:solidFill>
                            <a:srgbClr val="2F3A43"/>
                          </a:solidFill>
                          <a:latin typeface="Calibri"/>
                        </a:rPr>
                        <a:t>TRAIN/DEV only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C5D0D8"/>
                </a:solidFill>
                <a:latin typeface="Calibri"/>
              </a:rPr>
              <a:t>BACKUP  ·  ULTRA  ·  Advisor review  ·  Hashim Shazad  · 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C4962C"/>
                </a:solidFill>
                <a:latin typeface="Calibri"/>
              </a:rPr>
              <a:t>20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962C"/>
                </a:solidFill>
                <a:latin typeface="Calibri"/>
              </a:rPr>
              <a:t>BACKUP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"/>
            <a:ext cx="11338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If challenged — exact sentences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D6DE"/>
                </a:solidFill>
                <a:latin typeface="Calibri"/>
              </a:rPr>
              <a:t>Use these; do not improvise a bigger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7A6B"/>
                </a:solidFill>
                <a:latin typeface="Calibri"/>
              </a:rPr>
              <a:t>“Did you publish 87%?”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17904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“87.18% is the frozen development known-item Hit@5 on n=78. The unseen known-item figure is 67.5% on K. Usefulness is 57.5% on U.”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66543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7A6B"/>
                </a:solidFill>
                <a:latin typeface="Calibri"/>
              </a:rPr>
              <a:t>“So the system failed?”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22576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“Urdu-script retrieval did not fail. Ordinary Roman Urdu failed. That is the result, and it is why v2 exists.”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71215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7A6B"/>
                </a:solidFill>
                <a:latin typeface="Calibri"/>
              </a:rPr>
              <a:t>“Can you improve it before the thesis?”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27248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“Not on K/U — those sets are burned. v2 TEST is still sealed. Improving Method D after seeing K Roman 1/12 would not be an unseen test of M0.”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75887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7A6B"/>
                </a:solidFill>
                <a:latin typeface="Calibri"/>
              </a:rPr>
              <a:t>“What is new vs other Urdu IR?”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“A frozen script-aware BM25 protocol that separates development title_roman from sealed ordinary Roman, plus human Success@5 that is not called Hit@5.”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59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7A6B"/>
                </a:solidFill>
                <a:latin typeface="Calibri"/>
              </a:rPr>
              <a:t>“Why not neural as the official system?”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36592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“On the freeze pool, MiniLM lost to M0. On new Roman KN, dense is promising — that is v2, not the PLOS freeze.”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85231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7A6B"/>
                </a:solidFill>
                <a:latin typeface="Calibri"/>
              </a:rPr>
              <a:t>“What do you want from me?”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41264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F3A43"/>
                </a:solidFill>
                <a:latin typeface="Calibri"/>
              </a:rPr>
              <a:t>“Approve finishing the thesis on the three M0 numbers, and treat v2 as a follow-on with TEST unopened until we freeze one candidate.”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